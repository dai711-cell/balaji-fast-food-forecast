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faa2881f45454e" /><Relationship Type="http://schemas.openxmlformats.org/officeDocument/2006/relationships/extended-properties" Target="/docProps/app.xml" Id="R6db21c56059a40b2" /><Relationship Type="http://schemas.openxmlformats.org/officeDocument/2006/relationships/officeDocument" Target="/ppt/presentation.xml" Id="Re869877f5a2945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58369ef7264568"/>
  </p:sldMasterIdLst>
  <p:notesMasterIdLst>
    <p:notesMasterId xmlns:r="http://schemas.openxmlformats.org/officeDocument/2006/relationships" r:id="Rd9507480d95c4792"/>
  </p:notesMasterIdLst>
  <p:sldIdLst>
    <p:sldId xmlns:r="http://schemas.openxmlformats.org/officeDocument/2006/relationships" id="256" r:id="Rcd6c166b067940f2"/>
    <p:sldId xmlns:r="http://schemas.openxmlformats.org/officeDocument/2006/relationships" id="257" r:id="R1fe326346b8c449b"/>
    <p:sldId xmlns:r="http://schemas.openxmlformats.org/officeDocument/2006/relationships" id="258" r:id="R0d32d0179deb4fe9"/>
    <p:sldId xmlns:r="http://schemas.openxmlformats.org/officeDocument/2006/relationships" id="259" r:id="R2e050ad53ae54f03"/>
    <p:sldId xmlns:r="http://schemas.openxmlformats.org/officeDocument/2006/relationships" id="260" r:id="R6338bdfeae7140c7"/>
    <p:sldId xmlns:r="http://schemas.openxmlformats.org/officeDocument/2006/relationships" id="261" r:id="R282f7313ebac4ada"/>
    <p:sldId xmlns:r="http://schemas.openxmlformats.org/officeDocument/2006/relationships" id="262" r:id="R03378679146c4dd6"/>
    <p:sldId xmlns:r="http://schemas.openxmlformats.org/officeDocument/2006/relationships" id="263" r:id="R0ba032d7fbc042b4"/>
    <p:sldId xmlns:r="http://schemas.openxmlformats.org/officeDocument/2006/relationships" id="264" r:id="Ra59a46e5f7ef4bc4"/>
    <p:sldId xmlns:r="http://schemas.openxmlformats.org/officeDocument/2006/relationships" id="265" r:id="R03d3eb379a8e49b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7c5ce8b3ed4666" /><Relationship Type="http://schemas.openxmlformats.org/officeDocument/2006/relationships/slideMaster" Target="/ppt/slideMasters/slideMaster1.xml" Id="Rd158369ef7264568" /><Relationship Type="http://schemas.openxmlformats.org/officeDocument/2006/relationships/notesMaster" Target="/ppt/notesMasters/notesMaster1.xml" Id="Rd9507480d95c4792" /><Relationship Type="http://schemas.openxmlformats.org/officeDocument/2006/relationships/presProps" Target="/ppt/presProps.xml" Id="R9f5bc07b489a4512" /><Relationship Type="http://schemas.openxmlformats.org/officeDocument/2006/relationships/tableStyles" Target="/ppt/tableStyles.xml" Id="R9307f93941984d61" /><Relationship Type="http://schemas.openxmlformats.org/officeDocument/2006/relationships/slide" Target="/ppt/slides/slide1.xml" Id="Rcd6c166b067940f2" /><Relationship Type="http://schemas.openxmlformats.org/officeDocument/2006/relationships/slide" Target="/ppt/slides/slide2.xml" Id="R1fe326346b8c449b" /><Relationship Type="http://schemas.openxmlformats.org/officeDocument/2006/relationships/slide" Target="/ppt/slides/slide3.xml" Id="R0d32d0179deb4fe9" /><Relationship Type="http://schemas.openxmlformats.org/officeDocument/2006/relationships/slide" Target="/ppt/slides/slide4.xml" Id="R2e050ad53ae54f03" /><Relationship Type="http://schemas.openxmlformats.org/officeDocument/2006/relationships/slide" Target="/ppt/slides/slide5.xml" Id="R6338bdfeae7140c7" /><Relationship Type="http://schemas.openxmlformats.org/officeDocument/2006/relationships/slide" Target="/ppt/slides/slide6.xml" Id="R282f7313ebac4ada" /><Relationship Type="http://schemas.openxmlformats.org/officeDocument/2006/relationships/slide" Target="/ppt/slides/slide7.xml" Id="R03378679146c4dd6" /><Relationship Type="http://schemas.openxmlformats.org/officeDocument/2006/relationships/slide" Target="/ppt/slides/slide8.xml" Id="R0ba032d7fbc042b4" /><Relationship Type="http://schemas.openxmlformats.org/officeDocument/2006/relationships/slide" Target="/ppt/slides/slide9.xml" Id="Ra59a46e5f7ef4bc4" /><Relationship Type="http://schemas.openxmlformats.org/officeDocument/2006/relationships/slide" Target="/ppt/slides/slide10.xml" Id="R03d3eb379a8e49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0fedd23d294c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a1c7dfc7d54c23" /><Relationship Type="http://schemas.openxmlformats.org/officeDocument/2006/relationships/notesMaster" Target="/ppt/notesMasters/notesMaster1.xml" Id="R4e9d3b551df047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65521ba8274444" /><Relationship Type="http://schemas.openxmlformats.org/officeDocument/2006/relationships/notesMaster" Target="/ppt/notesMasters/notesMaster1.xml" Id="R998ec36fa6a847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f69ccb8b3c4cc1" /><Relationship Type="http://schemas.openxmlformats.org/officeDocument/2006/relationships/notesMaster" Target="/ppt/notesMasters/notesMaster1.xml" Id="R35706877c1464a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99008dc57443a0" /><Relationship Type="http://schemas.openxmlformats.org/officeDocument/2006/relationships/notesMaster" Target="/ppt/notesMasters/notesMaster1.xml" Id="R3c14da0e7add41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9879d45e354e99" /><Relationship Type="http://schemas.openxmlformats.org/officeDocument/2006/relationships/notesMaster" Target="/ppt/notesMasters/notesMaster1.xml" Id="R4c959f158e0d4d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f6a9483e594ca0" /><Relationship Type="http://schemas.openxmlformats.org/officeDocument/2006/relationships/notesMaster" Target="/ppt/notesMasters/notesMaster1.xml" Id="R5bc82b1b5c8844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ddf5d64eb34e63" /><Relationship Type="http://schemas.openxmlformats.org/officeDocument/2006/relationships/notesMaster" Target="/ppt/notesMasters/notesMaster1.xml" Id="R894202299acf46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9221e7cfc54734" /><Relationship Type="http://schemas.openxmlformats.org/officeDocument/2006/relationships/notesMaster" Target="/ppt/notesMasters/notesMaster1.xml" Id="Rbb05cd6a3afc45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afb593db7d467f" /><Relationship Type="http://schemas.openxmlformats.org/officeDocument/2006/relationships/notesMaster" Target="/ppt/notesMasters/notesMaster1.xml" Id="R630c723985aa40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432111fa73409d" /><Relationship Type="http://schemas.openxmlformats.org/officeDocument/2006/relationships/notesMaster" Target="/ppt/notesMasters/notesMaster1.xml" Id="Reddea5b4beb343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3a23fe4a5f4b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9e229cd9f84c99" /><Relationship Type="http://schemas.openxmlformats.org/officeDocument/2006/relationships/slideLayout" Target="/ppt/slideLayouts/slideLayout1.xml" Id="Rb8b94393372047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b94393372047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6f3e923c14ed9" /><Relationship Type="http://schemas.openxmlformats.org/officeDocument/2006/relationships/image" Target="/ppt/media/image.jpeg" Id="Rb2516ebf19984dfc" /><Relationship Type="http://schemas.openxmlformats.org/officeDocument/2006/relationships/notesSlide" Target="/ppt/notesSlides/notesSlide1.xml" Id="R4b5279fa52d741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7c865db184c64" /><Relationship Type="http://schemas.openxmlformats.org/officeDocument/2006/relationships/notesSlide" Target="/ppt/notesSlides/notesSlide2.xml" Id="Raa25ad63d84346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6fc22fac14166" /><Relationship Type="http://schemas.openxmlformats.org/officeDocument/2006/relationships/notesSlide" Target="/ppt/notesSlides/notesSlide3.xml" Id="Rc978f1fd048a40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0b6a4b6e241f4" /><Relationship Type="http://schemas.openxmlformats.org/officeDocument/2006/relationships/image" Target="/ppt/media/image.png" Id="R9f94dbbce3e94632" /><Relationship Type="http://schemas.openxmlformats.org/officeDocument/2006/relationships/notesSlide" Target="/ppt/notesSlides/notesSlide4.xml" Id="R902aef05e93d48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d6fc22f814594" /><Relationship Type="http://schemas.openxmlformats.org/officeDocument/2006/relationships/image" Target="/ppt/media/image2.png" Id="R00175f298bce41d5" /><Relationship Type="http://schemas.openxmlformats.org/officeDocument/2006/relationships/notesSlide" Target="/ppt/notesSlides/notesSlide5.xml" Id="Ra17430644d1440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606e845ec49e2" /><Relationship Type="http://schemas.openxmlformats.org/officeDocument/2006/relationships/image" Target="/ppt/media/image2.jpeg" Id="Rbb36197a923b4090" /><Relationship Type="http://schemas.openxmlformats.org/officeDocument/2006/relationships/notesSlide" Target="/ppt/notesSlides/notesSlide6.xml" Id="R64473761830b4a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1db5de8e64d7b" /><Relationship Type="http://schemas.openxmlformats.org/officeDocument/2006/relationships/notesSlide" Target="/ppt/notesSlides/notesSlide7.xml" Id="R6406bb7adae041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9815d91fc4adc" /><Relationship Type="http://schemas.openxmlformats.org/officeDocument/2006/relationships/notesSlide" Target="/ppt/notesSlides/notesSlide8.xml" Id="R01926c2834864d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11e9ab5ed492f" /><Relationship Type="http://schemas.openxmlformats.org/officeDocument/2006/relationships/notesSlide" Target="/ppt/notesSlides/notesSlide9.xml" Id="R5a4127b9f91948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f6900d7a647be" /><Relationship Type="http://schemas.openxmlformats.org/officeDocument/2006/relationships/notesSlide" Target="/ppt/notesSlides/notesSlide10.xml" Id="Ra04c444e81db4a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16ebf19984dfc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FB40C-79A3-4040-87D5-A85136D7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C78D6-AFAD-4319-8365-87E674AE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7EEE4-6B46-4A1E-9A10-851E9043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BALAJI FAST FOOD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CE229-6150-44C8-9EC5-D8040322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095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Previsión diaria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de ingresos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03E34-7A0E-41A3-AE2A-0D5DA92A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9FF"/>
                </a:solidFill>
              </a:defRPr>
            </a:pPr>
            <a:r>
              <a:rPr sz="1875" b="0">
                <a:solidFill>
                  <a:srgbClr val="DCE9FF"/>
                </a:solidFill>
              </a:rPr>
              <a:t>Una herramienta para planificar compras, personal y caja con una referencia más informada.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F07EE-A9F9-4B2C-81FB-89ABE02B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Presentación comercial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96BEE-89D3-4F0E-B949-F7D512B4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Modelo Extra Trees · FastAPI</a:t>
            </a:r>
          </a:p>
        </p:txBody>
      </p:sp>
    </p:spTree>
    <p:extLst>
      <p:ext uri="{BB962C8B-B14F-4D97-AF65-F5344CB8AC3E}">
        <p14:creationId xmlns:p14="http://schemas.microsoft.com/office/powerpoint/2010/main" val="1248534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AE2FDD-FF3B-42A0-82F9-6D3D2444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BALAJI FAST FOOD · PREVISIÓN DIARIA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0285C-D5C9-4664-998E-76A720E2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La decisión diaria necesita algo mejor que una media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09664-95F3-48E9-8842-F320168D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763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746BE-0E27-4677-AC98-FD2B6331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La venta cambia mucho de un día a otro. Una única referencia histórica no distingue contexto, calendario ni comportamiento reciente.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A05A9-045C-47A5-AA02-E494998C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563EB"/>
                </a:solidFill>
              </a:defRPr>
            </a:pPr>
            <a:r>
              <a:rPr sz="40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2B7BA-5383-40CD-BD25-C9F35807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257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C6971-AD86-485F-9716-A3FB75D2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Compras y stock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9FD0E-7945-40D4-8F75-5EA94A0F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Anticipar cuánto preparar sin sobredimensionar producto.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59370-9285-45AE-900A-4573F3A0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7241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563EB"/>
                </a:solidFill>
              </a:defRPr>
            </a:pPr>
            <a:r>
              <a:rPr sz="40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33822-B6D1-4091-9C58-F14CCA08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438525"/>
            <a:ext cx="257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24269-0DEA-43FB-B6FC-E4D05CED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676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Personal y turnos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1CBE9-1A3F-4E05-B6D1-59B4E95C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11480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Ajustar recursos a una expectativa diaria razonable.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B8F26-FF56-45C7-8F66-FF7B69E0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241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563EB"/>
                </a:solidFill>
              </a:defRPr>
            </a:pPr>
            <a:r>
              <a:rPr sz="40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C5121-0E6C-4669-B2A5-8E1C1106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38525"/>
            <a:ext cx="257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D4968-0AD1-4B22-B421-78EBFFEC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76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Caja y objetivos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DFEF3-3A59-432F-B6F7-FBEE524F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1480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Trabajar con una cifra y un rango, no solo con intuición.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68D3B-3F1A-49A7-B9CF-8C035178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925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E5F5A-A224-42EC-A83F-ECE9D89E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816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Objetivo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6FCC2-A2B4-425F-941F-18B7F1D3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3405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Reducir incertidumbre y mejorar la calidad de cada decisión operativa.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A5715-9846-4783-B702-DFCE2B6C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127DC-A3B9-4058-A992-97DB9317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Informe comercial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7C14B-775B-40B6-B51E-A5CBDE3F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982967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06569D-E846-4B38-9EFE-858D35F5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BALAJI FAST FOOD · PREVISIÓN DIARIA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BB7AD-38F0-4D2B-8A31-04C9FA4B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El modelo mejora la referencia sin modelo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CBC4E-BC4E-4BB5-A092-57438154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763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962E8-71FF-48A4-A59C-F1E7C8DE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Resultado sobre validación temporal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2D878-5EEF-4FCD-A806-13B9DFAF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38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1D4ED8"/>
                </a:solidFill>
              </a:defRPr>
            </a:pPr>
            <a:r>
              <a:rPr sz="6900" b="1">
                <a:solidFill>
                  <a:srgbClr val="1D4ED8"/>
                </a:solidFill>
              </a:rPr>
              <a:t>5,6%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79F1D-B020-4A0F-93A7-C0E0818C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menos error medio diario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7508D-1F75-4775-8AC7-AF93DC3A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MAE: 463,52 → 437,41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BFBED-4233-424C-864E-E9B2ACBA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52600"/>
            <a:ext cx="1905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A6CCA-2448-4907-8E66-54E14060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38BDF8"/>
                </a:solidFill>
              </a:defRPr>
            </a:pPr>
            <a:r>
              <a:rPr sz="4500" b="1">
                <a:solidFill>
                  <a:srgbClr val="38BDF8"/>
                </a:solidFill>
              </a:rPr>
              <a:t>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09774-7D90-4A97-A1EB-4CF6B881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unidades monetarias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DA6D3-04F9-4B4E-8F7C-F0B5BA07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menos de desviación media por día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B2EE2-7653-4D6A-AFC6-D23AB8B7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C6383-C0A0-4E3D-B83F-06EB55FD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D4ED8"/>
                </a:solidFill>
              </a:defRPr>
            </a:pPr>
            <a:r>
              <a:rPr sz="3750" b="1">
                <a:solidFill>
                  <a:srgbClr val="1D4ED8"/>
                </a:solidFill>
              </a:rPr>
              <a:t>≈ 783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75C07-4123-4960-B441-B7BF6CB2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menos error absoluto acumulado en 30 días, si se mantiene el rendimiento observado.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90EED-6892-4A96-AA62-C855573E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La validación secuencial adicional mostró un comportamiento consistente con la evaluación principal.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CC902-640F-4FDD-BC8C-B2A379A0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DF287-7062-4C10-93E1-E91F481F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Informe comercial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3591E-1D20-4CC8-9C4F-E6F6AF7E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4622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6B3DEF-AC0B-4044-BE18-5F43C1F9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BALAJI FAST FOOD · PREVISIÓN DIARIA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3485A-1D10-4743-911C-74490936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La previsión aporta una referencia más informada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636BB-863B-451D-9167-3D16E7F3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763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4dbbce3e94632"/>
          <a:stretch xmlns:a="http://schemas.openxmlformats.org/drawingml/2006/main"/>
        </p:blipFill>
        <p:spPr>
          <a:xfrm xmlns:a="http://schemas.openxmlformats.org/drawingml/2006/main">
            <a:off x="1771650" y="1466850"/>
            <a:ext cx="8648700" cy="4324350"/>
          </a:xfrm>
          <a:prstGeom xmlns:a="http://schemas.openxmlformats.org/drawingml/2006/main" prst="roundRect">
            <a:avLst>
              <a:gd name="adj" fmla="val 88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6B203-844A-400C-ABDE-5E56F016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10820400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732C7-8471-46E3-9D28-1830C2E5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0075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Lectura clave: el objetivo no es adivinar cada pico, sino reducir el error frente a una referencia simple.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6AF1A-7962-43E1-B5D5-2D223625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3EA4C-3FD1-4D59-ACB1-EA3362C9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Informe comercial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CCE4A-4F44-443A-A36D-BEE5A50D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919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641EFC-748C-4B2D-B54B-850E5AA7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BALAJI FAST FOOD · PREVISIÓN DIARIA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E00DD-A11E-4297-A32D-EA0A62A3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Más días dentro de un margen útil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B02D9-077E-4A8E-BA7F-478C5AC1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763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75f298bce41d5"/>
          <a:stretch xmlns:a="http://schemas.openxmlformats.org/drawingml/2006/main"/>
        </p:blipFill>
        <p:spPr>
          <a:xfrm xmlns:a="http://schemas.openxmlformats.org/drawingml/2006/main">
            <a:off x="892319" y="1476375"/>
            <a:ext cx="7387936" cy="4514850"/>
          </a:xfrm>
          <a:prstGeom xmlns:a="http://schemas.openxmlformats.org/drawingml/2006/main" prst="roundRect">
            <a:avLst>
              <a:gd name="adj" fmla="val 84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5F20D-7098-43C0-B834-CEEF35C1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14500"/>
            <a:ext cx="2381250" cy="33718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2667A-C6DF-486B-A103-0C41D61E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9550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D4ED8"/>
                </a:solidFill>
              </a:defRPr>
            </a:pPr>
            <a:r>
              <a:rPr sz="4050" b="1">
                <a:solidFill>
                  <a:srgbClr val="1D4ED8"/>
                </a:solidFill>
              </a:rPr>
              <a:t>+3 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867B6-3DBE-4F9F-BAC8-9CA6E1EA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384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en el margen más exigente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D926E-CD93-4039-A2B0-73815BA9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638550"/>
            <a:ext cx="1857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40% de los días quedan dentro de ±250, frente a 37% sin modelo.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4FD06-73F5-42DA-B577-00561A01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054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En ±500, el modelo alcanza aproximadamente el 63% de los días.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9E2C2-848A-4580-950E-6E459BA7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D767F-522D-4FA0-B684-81144CD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Informe comercial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CB297-D0FC-4A69-B821-5B41F107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88154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EDF186-B158-419B-9414-3E206053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BALAJI FAST FOOD · PREVISIÓN DIARIA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78EF3-12A9-4AE7-B9E6-3ADA50B1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La predicción ya está convertida en una herramienta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5EAA4-E165-4F80-A211-E3FEAD60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763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6197a923b4090"/>
          <a:srcRect xmlns:a="http://schemas.openxmlformats.org/drawingml/2006/main" l="0" t="1493" r="0" b="14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466850"/>
            <a:ext cx="8896350" cy="4857750"/>
          </a:xfrm>
          <a:prstGeom xmlns:a="http://schemas.openxmlformats.org/drawingml/2006/main" prst="roundRect">
            <a:avLst>
              <a:gd name="adj" fmla="val 117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B76CD-EEED-426A-A2D6-84E61B37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62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Una cifra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0D9BE-C12E-4633-95AE-17E86C5A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43125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Estimación central para el día seleccionado.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0C9C2-6B9F-4AE7-8B21-0B9CE8C7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70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43060-3C1B-4C9D-9D42-B07E8962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Tres rangos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CC90D-01BA-41B4-B4A5-0020F707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Bandas del 50%, 60% y 70% para decidir según el nivel de prudencia.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33E43-FDD0-4B18-B097-7A8AAE80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911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35D2B-7249-45C1-AD7D-2EEB2411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482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Uso inmediato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D632C-B525-4B1A-95D4-565CE97B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2927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Seleccionar fecha, predecir y revisar el camino esperado.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EBF24-2554-4DCE-8098-FDA29386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68798-3321-4851-B92D-75F36130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Informe comercial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E8230-D638-4206-BB27-81F7A9FB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9571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5BBB4D-BBA6-4592-860A-A3950610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BALAJI FAST FOOD · PREVISIÓN DIARIA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5C906-F0AE-4AB6-A55B-855579FC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Cómo usar la previsión en una decisión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B983D-309D-47FF-BCF0-123AD0F0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763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ECA06-D1D1-46AC-8529-957C216E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AFDE2-D40B-40AA-8DA3-188B7991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Estimación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FDD33-7FD2-44AB-930E-BEE2FC94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Punto de partida para preparar el día, no una promesa exacta.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C5C1B-F13E-4A5F-8AB2-F874FB3A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E15CB-1960-4F15-A496-524D1502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Intervalo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36138-A285-402A-BFDF-76C8CAC4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Permite elegir una planificación más ajustada o más prudente según el coste del error.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3266F-DCD8-4EDE-BC51-ED83F025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85725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D5BC6-1691-4CC0-892D-CD537B73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Criterio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DAFBA-5097-46F4-B10D-48A3BA99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El responsable añade reservas, promociones, eventos y conocimiento operativo.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AE204-1AA9-4533-85AC-5FA016FA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6680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50A6B-38ED-497F-80FC-C4933A3E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00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Punto de atención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E6411-AC45-4A24-9882-DA44C9B7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343525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El modelo tiende a ser algo optimista: cuando una decisión dependa de no sobredimensionar recursos, conviene trabajar con una lectura prudente del rango.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25FBA-DA3C-4950-9BC8-733EF9E9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7102A-03D8-4D74-B097-E9A4E414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Informe comercial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74C806-0767-497F-AF48-65783A14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1869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F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1549FD-559B-4CB5-9870-9B9D49B4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BALAJI FAST FOOD · PREVISIÓN DIARIA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3A5B0-D34E-4208-9302-8B80D94F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Cada semana y cada mes aumentan el valor del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CC4C8-7065-4C01-BB85-FC7939D8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763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E6B0D-6875-4B10-A1E4-07BD97A9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Con poco histórico, cada nuevo bloque de datos representa una parte relevante de lo que el modelo conoce.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C3A7B-D1BE-46FA-BBA1-F1429855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10096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3E197-0C5A-436A-8F17-CAE9021F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43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E7484-F430-4C19-89CA-D661B756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Cada semana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D0365-8FE0-4F11-A058-83249396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433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Detecta cambios recientes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3904E-D950-4D70-A9EA-5EE37A90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43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94A58-7303-49EE-8DBC-5249C955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861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Cada 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80443-A2CC-4524-A6A4-A7E9D70F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433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Distingue tendencia de ruido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1F0E3-1045-4005-A1C7-0DF5490C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43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D6EF1-C921-4BE9-8A09-997B6CFC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861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Más contexto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828F7-4570-41A4-B5D8-015229C1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433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Promociones, festivos y stock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FC92E-6AF7-4F6C-8B20-FA43C47B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743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918EB-AB79-4C42-97E9-123C7273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861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Mejor decisión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125B3-BF2D-4D60-A6D3-4D972500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433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Compras y personal más ajustados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98E15-8D3C-4167-9FC6-C88AE76D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33950"/>
            <a:ext cx="942975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F52E9-5E71-4A50-9945-4ED6F3E6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244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El mantenimiento no es un coste separado del modelo: es la forma de conservar y ampliar su utilidad.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7E51D4-A7D5-45E8-886F-2B4D0CD6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A25AA-F05A-4CC6-BE9A-01F1F813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Informe comercial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BF216-97E8-4CFF-9B4F-E12194A5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485421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E45CFB-2E54-4B38-8812-12A34CD4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BALAJI FAST FOOD · PREVISIÓN DIARIA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74CAF-693F-4A92-84DE-F36C467B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Una rutina sencilla mantiene el modelo vivo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31100-C43E-43B6-88B8-5C6BF5EC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763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09CA7-782D-4603-BC82-18B32871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8BDF8"/>
                </a:solidFill>
              </a:defRPr>
            </a:pPr>
            <a:r>
              <a:rPr sz="3600" b="1">
                <a:solidFill>
                  <a:srgbClr val="38BDF8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9DF06-82FE-419C-95C1-4A02331F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66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SEMANAL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BF722-FA95-4DBA-9C44-B7E8C802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Cargar ventas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01C51-B8DE-488A-8706-90C9C015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9CB7E-CB8B-499D-8F3E-44D981D0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781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Actualizar el histórico y comprobar que los nuevos datos concuerdan tras la limpieza.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C5D56-08CE-45F7-954A-69556E43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4C10F-99B9-4774-9F78-76F65E39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66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MENSUAL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C7EC7-AB94-4FD3-B2BA-010234B1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Revisar y reentrenar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A733F-2624-45A1-A108-9A585CC1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797F9-3777-41D2-9B56-A005B894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2781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Comparar previsión con realidad, revisar errores y actualizar el modelo con todo el histórico.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D0F21-4E82-4FAA-AA08-C638E6BA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6212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4ED8"/>
                </a:solidFill>
              </a:defRPr>
            </a:pPr>
            <a:r>
              <a:rPr sz="3600" b="1">
                <a:solidFill>
                  <a:srgbClr val="1D4ED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8A36B-A70B-4B03-84FE-5AB2784D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66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CONTINUO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F1A0A-4D0E-4F6C-A591-4E332DBD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19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Ampliar contexto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54B76-BB69-42D3-A45C-E4E62925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35FD7-DE40-4F24-908D-B472FEE1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29000"/>
            <a:ext cx="2781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Añadir promociones, festivos, eventos, stock o clima cuando estén disponibles.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43993-295B-49A0-B422-BC8AD8F3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1F696-0C84-4044-BF42-7516791B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956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La monitorización del deterioro será más fiable conforme se acumulen más meses y situaciones distintas.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55EC7-4591-4AC9-B0D4-1CC56BC9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A40A6-8136-43B7-9048-201D6779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Informe comercial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9DA5D7-B4FA-4C42-90E5-F392CBD1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722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683786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89BA97-273E-4827-AD8D-DE534CF7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RECOMENDACIÓN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246AE-A179-4C60-BB24-7F13E5FE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Usar el modelo ahora.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Mejorarlo con cada dato nuevo.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AD0E8-47AE-4AAA-8F7E-14A47724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800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9FF"/>
                </a:solidFill>
              </a:defRPr>
            </a:pPr>
            <a:r>
              <a:rPr sz="1875" b="0">
                <a:solidFill>
                  <a:srgbClr val="DCE9FF"/>
                </a:solidFill>
              </a:rPr>
              <a:t>El valor actual ya supera a la referencia sin modelo. El mayor potencial aparece cuando el negocio mantiene un registro continuo y convierte cada semana en aprendizaje.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3BCCD-9915-48FC-9295-A1616F94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93DBA-8080-4865-8604-3AEB5024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BDF8"/>
                </a:solidFill>
              </a:defRPr>
            </a:pPr>
            <a:r>
              <a:rPr sz="2100" b="1">
                <a:solidFill>
                  <a:srgbClr val="38BDF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2BEEC-0B03-45AB-9B00-7FAEA303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720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Predecir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261D4-561F-4E81-9EA2-4ADD0FAA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BDF8"/>
                </a:solidFill>
              </a:defRPr>
            </a:pPr>
            <a:r>
              <a:rPr sz="2100" b="1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85337-1024-47B9-9541-801042AA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720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Registrar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D8D1B-BB35-4769-915C-D22C4AD2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435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BDF8"/>
                </a:solidFill>
              </a:defRPr>
            </a:pPr>
            <a:r>
              <a:rPr sz="2100" b="1">
                <a:solidFill>
                  <a:srgbClr val="38BDF8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551A5-C7FB-4644-B945-63AD123D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720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Revisar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03776-A700-4C8F-B306-AECB08A3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435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BDF8"/>
                </a:solidFill>
              </a:defRPr>
            </a:pPr>
            <a:r>
              <a:rPr sz="2100" b="1">
                <a:solidFill>
                  <a:srgbClr val="38BDF8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E7BCA-783C-4F5B-B424-1B92106D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172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Reentrenar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51483-FB16-46FA-9829-08CAB5E4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4A3B8"/>
                </a:solidFill>
              </a:defRPr>
            </a:pPr>
            <a:r>
              <a:rPr sz="1125" b="1">
                <a:solidFill>
                  <a:srgbClr val="94A3B8"/>
                </a:solidFill>
              </a:rPr>
              <a:t>Balaji Fast Food Forecast</a:t>
            </a:r>
          </a:p>
        </p:txBody>
      </p:sp>
    </p:spTree>
    <p:extLst>
      <p:ext uri="{BB962C8B-B14F-4D97-AF65-F5344CB8AC3E}">
        <p14:creationId xmlns:p14="http://schemas.microsoft.com/office/powerpoint/2010/main" val="505425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2026-07-09T12:54:06.4260000Z</dcterms:created>
  <dcterms:modified xsi:type="dcterms:W3CDTF">2026-07-09T12:54:06.4270000Z</dcterms:modified>
</coreProperties>
</file>